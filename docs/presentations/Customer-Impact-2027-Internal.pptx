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0"/>
  </p:notes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5" r:id="rId12"/>
    <p:sldId id="267" r:id="rId13"/>
    <p:sldId id="261" r:id="rId14"/>
    <p:sldId id="270" r:id="rId15"/>
    <p:sldId id="266" r:id="rId16"/>
    <p:sldId id="268" r:id="rId17"/>
    <p:sldId id="269" r:id="rId18"/>
    <p:sldId id="272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EAC1B-28FF-A8C3-3CD4-67B1F6882FE7}" v="1" dt="2026-07-15T20:10:08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Zhdanov" userId="S::igor.zhdanov@journeyteam.com::6870a8ee-7b34-47e3-86af-df119e0d3273" providerId="AD" clId="Web-{3A2EAC1B-28FF-A8C3-3CD4-67B1F6882FE7}"/>
    <pc:docChg chg="modSld">
      <pc:chgData name="Igor Zhdanov" userId="S::igor.zhdanov@journeyteam.com::6870a8ee-7b34-47e3-86af-df119e0d3273" providerId="AD" clId="Web-{3A2EAC1B-28FF-A8C3-3CD4-67B1F6882FE7}" dt="2026-07-15T20:10:08.936" v="0"/>
      <pc:docMkLst>
        <pc:docMk/>
      </pc:docMkLst>
      <pc:sldChg chg="mod modShow">
        <pc:chgData name="Igor Zhdanov" userId="S::igor.zhdanov@journeyteam.com::6870a8ee-7b34-47e3-86af-df119e0d3273" providerId="AD" clId="Web-{3A2EAC1B-28FF-A8C3-3CD4-67B1F6882FE7}" dt="2026-07-15T20:10:08.936" v="0"/>
        <pc:sldMkLst>
          <pc:docMk/>
          <pc:sldMk cId="0" sldId="267"/>
        </pc:sldMkLst>
      </pc:sldChg>
    </pc:docChg>
  </pc:docChgLst>
  <pc:docChgLst>
    <pc:chgData name="Igor Zhdanov" userId="S::igor.zhdanov@journeyteam.com::6870a8ee-7b34-47e3-86af-df119e0d3273" providerId="AD" clId="Web-{47F143E7-1CC4-DA00-DEE9-08AC788302BE}"/>
    <pc:docChg chg="delSld modSld">
      <pc:chgData name="Igor Zhdanov" userId="S::igor.zhdanov@journeyteam.com::6870a8ee-7b34-47e3-86af-df119e0d3273" providerId="AD" clId="Web-{47F143E7-1CC4-DA00-DEE9-08AC788302BE}" dt="2026-07-08T16:29:06.103" v="106"/>
      <pc:docMkLst>
        <pc:docMk/>
      </pc:docMkLst>
      <pc:sldChg chg="modSp">
        <pc:chgData name="Igor Zhdanov" userId="S::igor.zhdanov@journeyteam.com::6870a8ee-7b34-47e3-86af-df119e0d3273" providerId="AD" clId="Web-{47F143E7-1CC4-DA00-DEE9-08AC788302BE}" dt="2026-07-08T16:22:50.496" v="31" actId="20577"/>
        <pc:sldMkLst>
          <pc:docMk/>
          <pc:sldMk cId="0" sldId="257"/>
        </pc:sldMkLst>
        <pc:spChg chg="mod">
          <ac:chgData name="Igor Zhdanov" userId="S::igor.zhdanov@journeyteam.com::6870a8ee-7b34-47e3-86af-df119e0d3273" providerId="AD" clId="Web-{47F143E7-1CC4-DA00-DEE9-08AC788302BE}" dt="2026-07-08T16:22:47.402" v="29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Igor Zhdanov" userId="S::igor.zhdanov@journeyteam.com::6870a8ee-7b34-47e3-86af-df119e0d3273" providerId="AD" clId="Web-{47F143E7-1CC4-DA00-DEE9-08AC788302BE}" dt="2026-07-08T16:22:50.496" v="31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Sp">
        <pc:chgData name="Igor Zhdanov" userId="S::igor.zhdanov@journeyteam.com::6870a8ee-7b34-47e3-86af-df119e0d3273" providerId="AD" clId="Web-{47F143E7-1CC4-DA00-DEE9-08AC788302BE}" dt="2026-07-08T16:27:50.429" v="32" actId="14100"/>
        <pc:sldMkLst>
          <pc:docMk/>
          <pc:sldMk cId="0" sldId="261"/>
        </pc:sldMkLst>
        <pc:spChg chg="mod">
          <ac:chgData name="Igor Zhdanov" userId="S::igor.zhdanov@journeyteam.com::6870a8ee-7b34-47e3-86af-df119e0d3273" providerId="AD" clId="Web-{47F143E7-1CC4-DA00-DEE9-08AC788302BE}" dt="2026-07-08T16:27:50.429" v="32" actId="14100"/>
          <ac:spMkLst>
            <pc:docMk/>
            <pc:sldMk cId="0" sldId="261"/>
            <ac:spMk id="3" creationId="{00000000-0000-0000-0000-000000000000}"/>
          </ac:spMkLst>
        </pc:spChg>
      </pc:sldChg>
      <pc:sldChg chg="modSp">
        <pc:chgData name="Igor Zhdanov" userId="S::igor.zhdanov@journeyteam.com::6870a8ee-7b34-47e3-86af-df119e0d3273" providerId="AD" clId="Web-{47F143E7-1CC4-DA00-DEE9-08AC788302BE}" dt="2026-07-08T16:13:00.632" v="25"/>
        <pc:sldMkLst>
          <pc:docMk/>
          <pc:sldMk cId="0" sldId="262"/>
        </pc:sldMkLst>
        <pc:graphicFrameChg chg="mod modGraphic">
          <ac:chgData name="Igor Zhdanov" userId="S::igor.zhdanov@journeyteam.com::6870a8ee-7b34-47e3-86af-df119e0d3273" providerId="AD" clId="Web-{47F143E7-1CC4-DA00-DEE9-08AC788302BE}" dt="2026-07-08T16:13:00.632" v="25"/>
          <ac:graphicFrameMkLst>
            <pc:docMk/>
            <pc:sldMk cId="0" sldId="262"/>
            <ac:graphicFrameMk id="8" creationId="{00000000-0000-0000-0000-000000000000}"/>
          </ac:graphicFrameMkLst>
        </pc:graphicFrameChg>
      </pc:sldChg>
      <pc:sldChg chg="modSp">
        <pc:chgData name="Igor Zhdanov" userId="S::igor.zhdanov@journeyteam.com::6870a8ee-7b34-47e3-86af-df119e0d3273" providerId="AD" clId="Web-{47F143E7-1CC4-DA00-DEE9-08AC788302BE}" dt="2026-07-08T16:28:51.212" v="96"/>
        <pc:sldMkLst>
          <pc:docMk/>
          <pc:sldMk cId="0" sldId="268"/>
        </pc:sldMkLst>
        <pc:graphicFrameChg chg="mod modGraphic">
          <ac:chgData name="Igor Zhdanov" userId="S::igor.zhdanov@journeyteam.com::6870a8ee-7b34-47e3-86af-df119e0d3273" providerId="AD" clId="Web-{47F143E7-1CC4-DA00-DEE9-08AC788302BE}" dt="2026-07-08T16:28:51.212" v="96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">
        <pc:chgData name="Igor Zhdanov" userId="S::igor.zhdanov@journeyteam.com::6870a8ee-7b34-47e3-86af-df119e0d3273" providerId="AD" clId="Web-{47F143E7-1CC4-DA00-DEE9-08AC788302BE}" dt="2026-07-08T16:29:06.103" v="106"/>
        <pc:sldMkLst>
          <pc:docMk/>
          <pc:sldMk cId="0" sldId="269"/>
        </pc:sldMkLst>
        <pc:graphicFrameChg chg="mod modGraphic">
          <ac:chgData name="Igor Zhdanov" userId="S::igor.zhdanov@journeyteam.com::6870a8ee-7b34-47e3-86af-df119e0d3273" providerId="AD" clId="Web-{47F143E7-1CC4-DA00-DEE9-08AC788302BE}" dt="2026-07-08T16:29:06.103" v="106"/>
          <ac:graphicFrameMkLst>
            <pc:docMk/>
            <pc:sldMk cId="0" sldId="269"/>
            <ac:graphicFrameMk id="19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E5CB81-DCCD-4EDA-9661-83A7E2C16771}" type="datetimeFigureOut"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D9C243-5501-483F-9B81-46E391B3F24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3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3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640080"/>
            <a:ext cx="256032" cy="256032"/>
          </a:xfrm>
          <a:prstGeom prst="ellipse">
            <a:avLst/>
          </a:prstGeom>
          <a:solidFill>
            <a:srgbClr val="B5773A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1051560"/>
            <a:ext cx="256032" cy="256032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0" y="1463040"/>
            <a:ext cx="256032" cy="256032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— INTERNAL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000"/>
              </a:lnSpc>
              <a:buNone/>
            </a:pPr>
            <a:r>
              <a:rPr lang="en-US" sz="3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Impact &amp;</a:t>
            </a:r>
            <a:endParaRPr lang="en-US" sz="3300"/>
          </a:p>
          <a:p>
            <a:pPr marL="0" indent="0">
              <a:lnSpc>
                <a:spcPts val="4000"/>
              </a:lnSpc>
              <a:buNone/>
            </a:pPr>
            <a:r>
              <a:rPr lang="en-US" sz="33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2027 Plan</a:t>
            </a:r>
            <a:endParaRPr lang="en-US" sz="3300"/>
          </a:p>
        </p:txBody>
      </p:sp>
      <p:sp>
        <p:nvSpPr>
          <p:cNvPr id="7" name="Text 5"/>
          <p:cNvSpPr/>
          <p:nvPr/>
        </p:nvSpPr>
        <p:spPr>
          <a:xfrm>
            <a:off x="640080" y="2788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 — selling business outcomes, not tech stacks, on the process we already run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 </a:t>
            </a:r>
            <a:r>
              <a:rPr lang="en-US" sz="125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change — the honest diagnosis of how we sell today      </a:t>
            </a:r>
            <a:r>
              <a:rPr lang="en-US" sz="1250" b="1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 </a:t>
            </a:r>
            <a:r>
              <a:rPr lang="en-US" sz="125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plan — instrumenting the Proven Process</a:t>
            </a:r>
            <a:endParaRPr lang="en-US" sz="1250"/>
          </a:p>
        </p:txBody>
      </p:sp>
      <p:sp>
        <p:nvSpPr>
          <p:cNvPr id="9" name="Text 7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F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Igor Zhdanov · Data &amp; AI · August 2026 · Internal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parts, one shift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69080" cy="3383280"/>
          </a:xfrm>
          <a:prstGeom prst="roundRect">
            <a:avLst>
              <a:gd name="adj" fmla="val 1892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4069080" cy="566928"/>
          </a:xfrm>
          <a:prstGeom prst="roundRect">
            <a:avLst>
              <a:gd name="adj" fmla="val 11290"/>
            </a:avLst>
          </a:prstGeom>
          <a:solidFill>
            <a:srgbClr val="333F4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16736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18872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— Why Change</a:t>
            </a:r>
            <a:endParaRPr lang="en-US" sz="1350"/>
          </a:p>
        </p:txBody>
      </p:sp>
      <p:sp>
        <p:nvSpPr>
          <p:cNvPr id="8" name="Text 5"/>
          <p:cNvSpPr/>
          <p:nvPr/>
        </p:nvSpPr>
        <p:spPr>
          <a:xfrm>
            <a:off x="685800" y="1938528"/>
            <a:ext cx="3611880" cy="246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behind the shift</a:t>
            </a:r>
            <a:endParaRPr lang="en-US" sz="125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deal flows today — the label trap</a:t>
            </a:r>
            <a:endParaRPr lang="en-US" sz="125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root causes, stated honestly</a:t>
            </a:r>
            <a:endParaRPr lang="en-US" sz="125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spots — and strengths we build on</a:t>
            </a:r>
            <a:endParaRPr lang="en-US" sz="125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research says (docs 01–04)</a:t>
            </a:r>
            <a:endParaRPr lang="en-US" sz="1250"/>
          </a:p>
          <a:p>
            <a:pPr>
              <a:lnSpc>
                <a:spcPts val="2200"/>
              </a:lnSpc>
              <a:buSzPct val="100000"/>
            </a:pPr>
            <a:endParaRPr lang="en-US" sz="1250">
              <a:solidFill>
                <a:srgbClr val="1F2A33"/>
              </a:solidFill>
              <a:latin typeface="Arial"/>
              <a:cs typeface="Arial"/>
            </a:endParaRPr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4069080" cy="3383280"/>
          </a:xfrm>
          <a:prstGeom prst="roundRect">
            <a:avLst>
              <a:gd name="adj" fmla="val 1892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09160" y="1188720"/>
            <a:ext cx="4069080" cy="566928"/>
          </a:xfrm>
          <a:prstGeom prst="roundRect">
            <a:avLst>
              <a:gd name="adj" fmla="val 11290"/>
            </a:avLst>
          </a:prstGeom>
          <a:solidFill>
            <a:srgbClr val="407EC9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31673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188720"/>
            <a:ext cx="3337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— The Customer Impact Plan</a:t>
            </a:r>
            <a:endParaRPr lang="en-US" sz="1350"/>
          </a:p>
        </p:txBody>
      </p:sp>
      <p:sp>
        <p:nvSpPr>
          <p:cNvPr id="13" name="Text 9"/>
          <p:cNvSpPr/>
          <p:nvPr/>
        </p:nvSpPr>
        <p:spPr>
          <a:xfrm>
            <a:off x="4937760" y="1938528"/>
            <a:ext cx="3611880" cy="246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thread through the five stages</a:t>
            </a:r>
            <a:endParaRPr lang="en-US" sz="125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artifacts — hypothesis, baseline, scorecard</a:t>
            </a:r>
            <a:endParaRPr lang="en-US" sz="125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workstreams — what actually changes</a:t>
            </a:r>
            <a:endParaRPr lang="en-US" sz="125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cross-practice plays</a:t>
            </a:r>
            <a:endParaRPr lang="en-US" sz="1250"/>
          </a:p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2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phased roadmap (Phase 0 → 3)</a:t>
            </a:r>
            <a:endParaRPr lang="en-US" sz="1250"/>
          </a:p>
          <a:p>
            <a:pPr>
              <a:lnSpc>
                <a:spcPts val="2200"/>
              </a:lnSpc>
              <a:buSzPct val="100000"/>
            </a:pPr>
            <a:endParaRPr lang="en-US" sz="1250">
              <a:solidFill>
                <a:srgbClr val="1F2A33"/>
              </a:solidFill>
              <a:latin typeface="Arial"/>
              <a:cs typeface="Arial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· Customer Impact 2027 — Internal</a:t>
            </a:r>
            <a:endParaRPr lang="en-US" sz="800"/>
          </a:p>
        </p:txBody>
      </p:sp>
      <p:sp>
        <p:nvSpPr>
          <p:cNvPr id="15" name="Text 11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3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Change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sell practice-specific technology — customers buy business outcomes</a:t>
            </a:r>
            <a:endParaRPr lang="en-US" sz="1500"/>
          </a:p>
        </p:txBody>
      </p:sp>
      <p:sp>
        <p:nvSpPr>
          <p:cNvPr id="5" name="Shape 3"/>
          <p:cNvSpPr/>
          <p:nvPr/>
        </p:nvSpPr>
        <p:spPr>
          <a:xfrm>
            <a:off x="640080" y="3246120"/>
            <a:ext cx="201168" cy="201168"/>
          </a:xfrm>
          <a:prstGeom prst="ellipse">
            <a:avLst/>
          </a:prstGeom>
          <a:solidFill>
            <a:srgbClr val="B5773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causes</a:t>
            </a:r>
            <a:endParaRPr lang="en-US" sz="1150"/>
          </a:p>
        </p:txBody>
      </p:sp>
      <p:sp>
        <p:nvSpPr>
          <p:cNvPr id="7" name="Shape 5"/>
          <p:cNvSpPr/>
          <p:nvPr/>
        </p:nvSpPr>
        <p:spPr>
          <a:xfrm>
            <a:off x="2286000" y="3246120"/>
            <a:ext cx="201168" cy="201168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32004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— sourced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4297680" y="3246120"/>
            <a:ext cx="201168" cy="2011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320040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Strengths — we keep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64008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F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Board session 01 · Research docs 01–04 · Proven Process · Firm facts from leadership (Aug 2026)</a:t>
            </a:r>
            <a:endParaRPr lang="en-US" sz="9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THE FIRM AT A GLANCE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firm on paper — four practices in practice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2651760" cy="1005840"/>
          </a:xfrm>
          <a:prstGeom prst="roundRect">
            <a:avLst>
              <a:gd name="adj" fmla="val 6364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1673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/>
          </a:p>
        </p:txBody>
      </p:sp>
      <p:sp>
        <p:nvSpPr>
          <p:cNvPr id="6" name="Text 4"/>
          <p:cNvSpPr/>
          <p:nvPr/>
        </p:nvSpPr>
        <p:spPr>
          <a:xfrm>
            <a:off x="594360" y="17556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practices, merged for collaboration — still selling single-practice</a:t>
            </a:r>
            <a:endParaRPr lang="en-US" sz="1050"/>
          </a:p>
        </p:txBody>
      </p:sp>
      <p:sp>
        <p:nvSpPr>
          <p:cNvPr id="7" name="Shape 5"/>
          <p:cNvSpPr/>
          <p:nvPr/>
        </p:nvSpPr>
        <p:spPr>
          <a:xfrm>
            <a:off x="3291840" y="1207008"/>
            <a:ext cx="2651760" cy="1005840"/>
          </a:xfrm>
          <a:prstGeom prst="roundRect">
            <a:avLst>
              <a:gd name="adj" fmla="val 6364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31673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&lt;10%</a:t>
            </a:r>
            <a:endParaRPr lang="en-US" sz="2400"/>
          </a:p>
        </p:txBody>
      </p:sp>
      <p:sp>
        <p:nvSpPr>
          <p:cNvPr id="9" name="Text 7"/>
          <p:cNvSpPr/>
          <p:nvPr/>
        </p:nvSpPr>
        <p:spPr>
          <a:xfrm>
            <a:off x="3429000" y="17556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suspected multi-practice bookings — unmeasured; baseline in Q4 2026</a:t>
            </a:r>
            <a:endParaRPr lang="en-US" sz="1050"/>
          </a:p>
        </p:txBody>
      </p:sp>
      <p:sp>
        <p:nvSpPr>
          <p:cNvPr id="10" name="Shape 8"/>
          <p:cNvSpPr/>
          <p:nvPr/>
        </p:nvSpPr>
        <p:spPr>
          <a:xfrm>
            <a:off x="6126480" y="1207008"/>
            <a:ext cx="2651760" cy="1005840"/>
          </a:xfrm>
          <a:prstGeom prst="roundRect">
            <a:avLst>
              <a:gd name="adj" fmla="val 6364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131673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18×</a:t>
            </a:r>
            <a:endParaRPr lang="en-US" sz="2400"/>
          </a:p>
        </p:txBody>
      </p:sp>
      <p:sp>
        <p:nvSpPr>
          <p:cNvPr id="12" name="Text 10"/>
          <p:cNvSpPr/>
          <p:nvPr/>
        </p:nvSpPr>
        <p:spPr>
          <a:xfrm>
            <a:off x="6263640" y="175564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per client at 5 practices vs 1 — and they outlive personnel churn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457200" y="2377440"/>
            <a:ext cx="2651760" cy="1005840"/>
          </a:xfrm>
          <a:prstGeom prst="roundRect">
            <a:avLst>
              <a:gd name="adj" fmla="val 6364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24871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~80%</a:t>
            </a:r>
            <a:endParaRPr lang="en-US" sz="2400"/>
          </a:p>
        </p:txBody>
      </p:sp>
      <p:sp>
        <p:nvSpPr>
          <p:cNvPr id="15" name="Text 13"/>
          <p:cNvSpPr/>
          <p:nvPr/>
        </p:nvSpPr>
        <p:spPr>
          <a:xfrm>
            <a:off x="594360" y="2926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reorgs fail to change behavior — structure alone never does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291840" y="2377440"/>
            <a:ext cx="2651760" cy="1005840"/>
          </a:xfrm>
          <a:prstGeom prst="roundRect">
            <a:avLst>
              <a:gd name="adj" fmla="val 6364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29000" y="24871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66.4%</a:t>
            </a:r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3429000" y="2926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utilization at an all-time low — AI is compressing effort-based work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6126480" y="2377440"/>
            <a:ext cx="2651760" cy="1005840"/>
          </a:xfrm>
          <a:prstGeom prst="roundRect">
            <a:avLst>
              <a:gd name="adj" fmla="val 6364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248716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400"/>
          </a:p>
        </p:txBody>
      </p:sp>
      <p:sp>
        <p:nvSpPr>
          <p:cNvPr id="21" name="Text 19"/>
          <p:cNvSpPr/>
          <p:nvPr/>
        </p:nvSpPr>
        <p:spPr>
          <a:xfrm>
            <a:off x="6263640" y="29260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roles, gates, or stages required — we instrument what exists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8229600" cy="868680"/>
          </a:xfrm>
          <a:prstGeom prst="roundRect">
            <a:avLst>
              <a:gd name="adj" fmla="val 7368"/>
            </a:avLst>
          </a:prstGeom>
          <a:solidFill>
            <a:srgbClr val="E7F0F9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3776472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runs a healthy firm: practice-neutral seller comp, a lead engine we own end-to-end, and a five-stage Proven Process that already promises business outcomes at every gate — with 70 QBRs a quarter already on the calendar. </a:t>
            </a:r>
            <a:r>
              <a:rPr lang="en-US" sz="115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an instrumentation job, not a rescue: the merger changed boxes, not deal flow. Customer Impact gives numbers, owners, and dates to promises the Proven Process already makes — nothing structural changes.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· Customer Impact 2027 — Internal</a:t>
            </a:r>
            <a:endParaRPr lang="en-US" sz="800"/>
          </a:p>
        </p:txBody>
      </p:sp>
      <p:sp>
        <p:nvSpPr>
          <p:cNvPr id="25" name="Text 23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HOW A DEAL FLOWS TODAY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 trap — self-inflicted, and fully in our control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371600" cy="1051560"/>
          </a:xfrm>
          <a:prstGeom prst="roundRect">
            <a:avLst>
              <a:gd name="adj" fmla="val 5217"/>
            </a:avLst>
          </a:prstGeom>
          <a:solidFill>
            <a:srgbClr val="333F48"/>
          </a:solidFill>
          <a:ln/>
          <a:effectLst>
            <a:outerShdw blurRad="63500" dist="25400" dir="2700000" algn="bl" rotWithShape="0">
              <a:srgbClr val="1F2A33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45389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created</a:t>
            </a:r>
            <a:endParaRPr lang="en-US" sz="1250"/>
          </a:p>
        </p:txBody>
      </p:sp>
      <p:sp>
        <p:nvSpPr>
          <p:cNvPr id="6" name="Text 4"/>
          <p:cNvSpPr/>
          <p:nvPr/>
        </p:nvSpPr>
        <p:spPr>
          <a:xfrm>
            <a:off x="512064" y="1783080"/>
            <a:ext cx="12618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>
                <a:solidFill>
                  <a:srgbClr val="DD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campaigns &amp; content</a:t>
            </a:r>
            <a:endParaRPr lang="en-US" sz="860"/>
          </a:p>
          <a:p>
            <a:pPr marL="0" indent="0" algn="ctr">
              <a:buNone/>
            </a:pPr>
            <a:r>
              <a:rPr lang="en-US" sz="860">
                <a:solidFill>
                  <a:srgbClr val="DD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organized by technology</a:t>
            </a:r>
            <a:endParaRPr lang="en-US" sz="860"/>
          </a:p>
        </p:txBody>
      </p:sp>
      <p:sp>
        <p:nvSpPr>
          <p:cNvPr id="7" name="Shape 5"/>
          <p:cNvSpPr/>
          <p:nvPr/>
        </p:nvSpPr>
        <p:spPr>
          <a:xfrm>
            <a:off x="1874520" y="1709928"/>
            <a:ext cx="292608" cy="274320"/>
          </a:xfrm>
          <a:prstGeom prst="rightArrow">
            <a:avLst/>
          </a:prstGeom>
          <a:solidFill>
            <a:srgbClr val="5D6B76"/>
          </a:solidFill>
          <a:ln/>
        </p:spPr>
      </p:sp>
      <p:sp>
        <p:nvSpPr>
          <p:cNvPr id="8" name="Shape 6"/>
          <p:cNvSpPr/>
          <p:nvPr/>
        </p:nvSpPr>
        <p:spPr>
          <a:xfrm>
            <a:off x="2212848" y="132588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407EC9"/>
          </a:solidFill>
          <a:ln/>
          <a:effectLst>
            <a:outerShdw blurRad="63500" dist="25400" dir="2700000" algn="bl" rotWithShape="0">
              <a:srgbClr val="1F2A33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12848" y="145389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accepted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2267712" y="17830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>
                <a:solidFill>
                  <a:srgbClr val="DD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need Power BI”</a:t>
            </a:r>
            <a:endParaRPr lang="en-US" sz="860"/>
          </a:p>
          <a:p>
            <a:pPr marL="0" indent="0" algn="ctr">
              <a:buNone/>
            </a:pPr>
            <a:r>
              <a:rPr lang="en-US" sz="860">
                <a:solidFill>
                  <a:srgbClr val="DD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to matching practice</a:t>
            </a:r>
            <a:endParaRPr lang="en-US" sz="860"/>
          </a:p>
        </p:txBody>
      </p:sp>
      <p:sp>
        <p:nvSpPr>
          <p:cNvPr id="11" name="Shape 9"/>
          <p:cNvSpPr/>
          <p:nvPr/>
        </p:nvSpPr>
        <p:spPr>
          <a:xfrm>
            <a:off x="3739896" y="1709928"/>
            <a:ext cx="292608" cy="274320"/>
          </a:xfrm>
          <a:prstGeom prst="rightArrow">
            <a:avLst/>
          </a:prstGeom>
          <a:solidFill>
            <a:srgbClr val="5D6B76"/>
          </a:solidFill>
          <a:ln/>
        </p:spPr>
      </p:sp>
      <p:sp>
        <p:nvSpPr>
          <p:cNvPr id="12" name="Shape 10"/>
          <p:cNvSpPr/>
          <p:nvPr/>
        </p:nvSpPr>
        <p:spPr>
          <a:xfrm>
            <a:off x="4078224" y="1325880"/>
            <a:ext cx="1481328" cy="1051560"/>
          </a:xfrm>
          <a:prstGeom prst="roundRect">
            <a:avLst>
              <a:gd name="adj" fmla="val 5217"/>
            </a:avLst>
          </a:prstGeom>
          <a:solidFill>
            <a:srgbClr val="2E5F8A"/>
          </a:solidFill>
          <a:ln/>
          <a:effectLst>
            <a:outerShdw blurRad="63500" dist="25400" dir="2700000" algn="bl" rotWithShape="0">
              <a:srgbClr val="1F2A33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78224" y="1453896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follows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4133088" y="1783080"/>
            <a:ext cx="1371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>
                <a:solidFill>
                  <a:srgbClr val="DD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single-practice EOW</a:t>
            </a:r>
            <a:endParaRPr lang="en-US" sz="860"/>
          </a:p>
          <a:p>
            <a:pPr marL="0" indent="0" algn="ctr">
              <a:buNone/>
            </a:pPr>
            <a:r>
              <a:rPr lang="en-US" sz="860">
                <a:solidFill>
                  <a:srgbClr val="DD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sized to what we can scope</a:t>
            </a:r>
            <a:endParaRPr lang="en-US" sz="860"/>
          </a:p>
        </p:txBody>
      </p:sp>
      <p:sp>
        <p:nvSpPr>
          <p:cNvPr id="15" name="Shape 13"/>
          <p:cNvSpPr/>
          <p:nvPr/>
        </p:nvSpPr>
        <p:spPr>
          <a:xfrm>
            <a:off x="5605272" y="1709928"/>
            <a:ext cx="292608" cy="274320"/>
          </a:xfrm>
          <a:prstGeom prst="rightArrow">
            <a:avLst/>
          </a:prstGeom>
          <a:solidFill>
            <a:srgbClr val="5D6B76"/>
          </a:solidFill>
          <a:ln/>
        </p:spPr>
      </p:sp>
      <p:sp>
        <p:nvSpPr>
          <p:cNvPr id="16" name="Shape 14"/>
          <p:cNvSpPr/>
          <p:nvPr/>
        </p:nvSpPr>
        <p:spPr>
          <a:xfrm>
            <a:off x="5943600" y="1325880"/>
            <a:ext cx="969264" cy="1051560"/>
          </a:xfrm>
          <a:prstGeom prst="roundRect">
            <a:avLst>
              <a:gd name="adj" fmla="val 5660"/>
            </a:avLst>
          </a:prstGeom>
          <a:solidFill>
            <a:srgbClr val="B5773A"/>
          </a:solidFill>
          <a:ln/>
          <a:effectLst>
            <a:outerShdw blurRad="63500" dist="25400" dir="2700000" algn="bl" rotWithShape="0">
              <a:srgbClr val="1F2A33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453896"/>
            <a:ext cx="969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250"/>
          </a:p>
        </p:txBody>
      </p:sp>
      <p:sp>
        <p:nvSpPr>
          <p:cNvPr id="18" name="Text 16"/>
          <p:cNvSpPr/>
          <p:nvPr/>
        </p:nvSpPr>
        <p:spPr>
          <a:xfrm>
            <a:off x="5998464" y="1783080"/>
            <a:ext cx="8595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>
                <a:solidFill>
                  <a:srgbClr val="DD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time, on budget</a:t>
            </a:r>
            <a:endParaRPr lang="en-US" sz="860"/>
          </a:p>
        </p:txBody>
      </p:sp>
      <p:sp>
        <p:nvSpPr>
          <p:cNvPr id="19" name="Shape 17"/>
          <p:cNvSpPr/>
          <p:nvPr/>
        </p:nvSpPr>
        <p:spPr>
          <a:xfrm>
            <a:off x="6986016" y="1325880"/>
            <a:ext cx="969264" cy="1051560"/>
          </a:xfrm>
          <a:prstGeom prst="roundRect">
            <a:avLst>
              <a:gd name="adj" fmla="val 5660"/>
            </a:avLst>
          </a:prstGeom>
          <a:solidFill>
            <a:srgbClr val="8A94A6"/>
          </a:solidFill>
          <a:ln/>
          <a:effectLst>
            <a:outerShdw blurRad="63500" dist="25400" dir="2700000" algn="bl" rotWithShape="0">
              <a:srgbClr val="1F2A33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86016" y="1453896"/>
            <a:ext cx="969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250"/>
          </a:p>
        </p:txBody>
      </p:sp>
      <p:sp>
        <p:nvSpPr>
          <p:cNvPr id="21" name="Text 19"/>
          <p:cNvSpPr/>
          <p:nvPr/>
        </p:nvSpPr>
        <p:spPr>
          <a:xfrm>
            <a:off x="7040880" y="1783080"/>
            <a:ext cx="8595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>
                <a:solidFill>
                  <a:srgbClr val="DD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ends</a:t>
            </a:r>
            <a:endParaRPr lang="en-US" sz="860"/>
          </a:p>
        </p:txBody>
      </p:sp>
      <p:sp>
        <p:nvSpPr>
          <p:cNvPr id="22" name="Shape 20"/>
          <p:cNvSpPr/>
          <p:nvPr/>
        </p:nvSpPr>
        <p:spPr>
          <a:xfrm>
            <a:off x="8028432" y="1325880"/>
            <a:ext cx="969264" cy="1051560"/>
          </a:xfrm>
          <a:prstGeom prst="roundRect">
            <a:avLst>
              <a:gd name="adj" fmla="val 5660"/>
            </a:avLst>
          </a:prstGeom>
          <a:solidFill>
            <a:srgbClr val="C9A227"/>
          </a:solidFill>
          <a:ln/>
          <a:effectLst>
            <a:outerShdw blurRad="63500" dist="25400" dir="2700000" algn="bl" rotWithShape="0">
              <a:srgbClr val="1F2A33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028432" y="1453896"/>
            <a:ext cx="9692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8083296" y="1783080"/>
            <a:ext cx="85953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60">
                <a:solidFill>
                  <a:srgbClr val="DDE8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silence</a:t>
            </a:r>
            <a:endParaRPr lang="en-US" sz="860"/>
          </a:p>
        </p:txBody>
      </p:sp>
      <p:sp>
        <p:nvSpPr>
          <p:cNvPr id="25" name="Shape 23"/>
          <p:cNvSpPr/>
          <p:nvPr/>
        </p:nvSpPr>
        <p:spPr>
          <a:xfrm>
            <a:off x="5943600" y="2743200"/>
            <a:ext cx="2761488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407E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98464" y="2743200"/>
            <a:ext cx="267004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— a practice-siloed project; the outcome conversation never happens (and the label was ours to begin with)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7178040" y="2432304"/>
            <a:ext cx="274320" cy="274320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" y="2542032"/>
            <a:ext cx="5120640" cy="1993392"/>
          </a:xfrm>
          <a:prstGeom prst="roundRect">
            <a:avLst>
              <a:gd name="adj" fmla="val 321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85800" y="26517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diagnosis found (board-reviewed)</a:t>
            </a:r>
            <a:endParaRPr lang="en-US" sz="1250"/>
          </a:p>
        </p:txBody>
      </p:sp>
      <p:sp>
        <p:nvSpPr>
          <p:cNvPr id="30" name="Text 28"/>
          <p:cNvSpPr/>
          <p:nvPr/>
        </p:nvSpPr>
        <p:spPr>
          <a:xfrm>
            <a:off x="685800" y="2944368"/>
            <a:ext cx="4800600" cy="1536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Leads are self-generated — the tech label is ours to fix</a:t>
            </a:r>
            <a:endParaRPr lang="en-US" sz="103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Sellers can’t challenge the label — no insight content exists</a:t>
            </a:r>
            <a:endParaRPr lang="en-US" sz="103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P&amp;Ls reward silos — seller comp doesn’t (a strength)</a:t>
            </a:r>
            <a:endParaRPr lang="en-US" sz="103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owns the outcome after go-live — Land-only revenue</a:t>
            </a:r>
            <a:endParaRPr lang="en-US" sz="103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Merged practices lack competence trust — crediting won’t fix it</a:t>
            </a:r>
            <a:endParaRPr lang="en-US" sz="1030"/>
          </a:p>
        </p:txBody>
      </p:sp>
      <p:sp>
        <p:nvSpPr>
          <p:cNvPr id="31" name="Text 29"/>
          <p:cNvSpPr/>
          <p:nvPr/>
        </p:nvSpPr>
        <p:spPr>
          <a:xfrm>
            <a:off x="5806440" y="3977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diagnosis with evidence: docs/01-problem-statement.md in the Customer Impact repo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· Customer Impact 2027 — Internal</a:t>
            </a:r>
            <a:endParaRPr lang="en-US" sz="800"/>
          </a:p>
        </p:txBody>
      </p:sp>
      <p:sp>
        <p:nvSpPr>
          <p:cNvPr id="33" name="Text 31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THE DIAGNOSIS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causes, stated honestly</a:t>
            </a:r>
            <a:endParaRPr lang="en-US" sz="25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071389"/>
              </p:ext>
            </p:extLst>
          </p:nvPr>
        </p:nvGraphicFramePr>
        <p:xfrm>
          <a:off x="457200" y="1234440"/>
          <a:ext cx="8229600" cy="3133344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Cause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we see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matters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Leadership’s part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Structural merger; targets unchanged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own this — naming it is the credibility of the rest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Self-inflicted labels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Campaigns organized by technology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generate our own leads — fully in our control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Sellers won’t / can’t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Friction; no insight content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capability gap, not comp — seller comp is neutral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 protection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Staff from own bench first</a:t>
                      </a:r>
                      <a:endParaRPr lang="en-US" sz="10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Multi-practice deals get delivered narrow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 P&amp;L silos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P&amp;L &amp; utilization single-practice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silo pressure lives here, not in seller comp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Microsoft gravity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Designations &amp; funding by workload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Ecosystem pulls to tech-selling; we counteract it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outcome owner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Ends at go-live; nothing measured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evidence, no expansion — Land-only revenue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competence trust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Practices don’t know each other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Fix crediting and referrals still won’t happen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advisory board session 01 (six seats, unanimous) — full text and evidence in docs/01 of the Customer Impact repo.</a:t>
            </a:r>
            <a:endParaRPr lang="en-US" sz="1000"/>
          </a:p>
        </p:txBody>
      </p:sp>
      <p:sp>
        <p:nvSpPr>
          <p:cNvPr id="6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· Customer Impact 2027 — Internal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HOT SPOTS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hot spots — and the strengths we build on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4114800" cy="1536192"/>
          </a:xfrm>
          <a:prstGeom prst="roundRect">
            <a:avLst>
              <a:gd name="adj" fmla="val 4167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99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481328"/>
            <a:ext cx="292608" cy="29260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99032"/>
            <a:ext cx="457200" cy="457200"/>
          </a:xfrm>
          <a:prstGeom prst="ellipse">
            <a:avLst/>
          </a:prstGeom>
          <a:solidFill>
            <a:srgbClr val="E7F0F9"/>
          </a:solidFill>
          <a:ln w="12700">
            <a:solidFill>
              <a:srgbClr val="407EC9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148132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1417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label trap</a:t>
            </a:r>
            <a:endParaRPr lang="en-US" sz="1300"/>
          </a:p>
        </p:txBody>
      </p:sp>
      <p:sp>
        <p:nvSpPr>
          <p:cNvPr id="10" name="Text 6"/>
          <p:cNvSpPr/>
          <p:nvPr/>
        </p:nvSpPr>
        <p:spPr>
          <a:xfrm>
            <a:off x="1234440" y="173736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create tech-labeled demand, then accept it. Sellers have no data-backed reframe to challenge a customer’s self-diagnosis — so we end up in commoditized, price-shopped bake-offs. Fix: outcome campaigns + insight kits.</a:t>
            </a:r>
            <a:endParaRPr lang="en-US" sz="1000"/>
          </a:p>
        </p:txBody>
      </p:sp>
      <p:sp>
        <p:nvSpPr>
          <p:cNvPr id="11" name="Shape 7"/>
          <p:cNvSpPr/>
          <p:nvPr/>
        </p:nvSpPr>
        <p:spPr>
          <a:xfrm>
            <a:off x="4800600" y="1234440"/>
            <a:ext cx="4114800" cy="1536192"/>
          </a:xfrm>
          <a:prstGeom prst="roundRect">
            <a:avLst>
              <a:gd name="adj" fmla="val 4167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983480" y="139903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481328"/>
            <a:ext cx="292608" cy="29260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983480" y="1399032"/>
            <a:ext cx="457200" cy="457200"/>
          </a:xfrm>
          <a:prstGeom prst="ellipse">
            <a:avLst/>
          </a:prstGeom>
          <a:solidFill>
            <a:srgbClr val="E7F0F9"/>
          </a:solidFill>
          <a:ln w="12700">
            <a:solidFill>
              <a:srgbClr val="407EC9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481328"/>
            <a:ext cx="292608" cy="29260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77840" y="14173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scorecards</a:t>
            </a:r>
            <a:endParaRPr lang="en-US" sz="1300"/>
          </a:p>
        </p:txBody>
      </p:sp>
      <p:sp>
        <p:nvSpPr>
          <p:cNvPr id="17" name="Text 11"/>
          <p:cNvSpPr/>
          <p:nvPr/>
        </p:nvSpPr>
        <p:spPr>
          <a:xfrm>
            <a:off x="5577840" y="173736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Seller comp is practice-neutral, but practice P&amp;Ls and utilization are not. Attribution friction sits with practice directors — whose margin, whose bench — and quietly reshapes every multi-practice deal.</a:t>
            </a:r>
            <a:endParaRPr lang="en-US" sz="1000"/>
          </a:p>
        </p:txBody>
      </p:sp>
      <p:sp>
        <p:nvSpPr>
          <p:cNvPr id="18" name="Shape 12"/>
          <p:cNvSpPr/>
          <p:nvPr/>
        </p:nvSpPr>
        <p:spPr>
          <a:xfrm>
            <a:off x="457200" y="2926080"/>
            <a:ext cx="4114800" cy="1536192"/>
          </a:xfrm>
          <a:prstGeom prst="roundRect">
            <a:avLst>
              <a:gd name="adj" fmla="val 4167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172968"/>
            <a:ext cx="292608" cy="292608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640080" y="3090672"/>
            <a:ext cx="457200" cy="457200"/>
          </a:xfrm>
          <a:prstGeom prst="ellipse">
            <a:avLst/>
          </a:prstGeom>
          <a:solidFill>
            <a:srgbClr val="E7F0F9"/>
          </a:solidFill>
          <a:ln w="12700">
            <a:solidFill>
              <a:srgbClr val="407EC9"/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" y="3172968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234440" y="3108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go-live, silence</a:t>
            </a:r>
            <a:endParaRPr lang="en-US" sz="1300"/>
          </a:p>
        </p:txBody>
      </p:sp>
      <p:sp>
        <p:nvSpPr>
          <p:cNvPr id="24" name="Text 16"/>
          <p:cNvSpPr/>
          <p:nvPr/>
        </p:nvSpPr>
        <p:spPr>
          <a:xfrm>
            <a:off x="1234440" y="342900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Launch gate asks “have outcomes been realized?” — then the team disengages before an answer exists. No baseline, no measurement, no evidence for the next sale. Land-only revenue in an adoption economy.</a:t>
            </a:r>
            <a:endParaRPr lang="en-US" sz="1000"/>
          </a:p>
        </p:txBody>
      </p:sp>
      <p:sp>
        <p:nvSpPr>
          <p:cNvPr id="25" name="Shape 17"/>
          <p:cNvSpPr/>
          <p:nvPr/>
        </p:nvSpPr>
        <p:spPr>
          <a:xfrm>
            <a:off x="4800600" y="2926080"/>
            <a:ext cx="4114800" cy="1536192"/>
          </a:xfrm>
          <a:prstGeom prst="roundRect">
            <a:avLst>
              <a:gd name="adj" fmla="val 4167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4983480" y="309067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3172968"/>
            <a:ext cx="292608" cy="292608"/>
          </a:xfrm>
          <a:prstGeom prst="rect">
            <a:avLst/>
          </a:prstGeom>
        </p:spPr>
      </p:pic>
      <p:sp>
        <p:nvSpPr>
          <p:cNvPr id="28" name="Shape 19"/>
          <p:cNvSpPr/>
          <p:nvPr/>
        </p:nvSpPr>
        <p:spPr>
          <a:xfrm>
            <a:off x="4983480" y="3090672"/>
            <a:ext cx="457200" cy="457200"/>
          </a:xfrm>
          <a:prstGeom prst="ellipse">
            <a:avLst/>
          </a:prstGeom>
          <a:solidFill>
            <a:srgbClr val="E7F0F9"/>
          </a:solidFill>
          <a:ln w="12700">
            <a:solidFill>
              <a:srgbClr val="407EC9"/>
            </a:solidFill>
            <a:prstDash val="solid"/>
          </a:ln>
        </p:spPr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5776" y="3172968"/>
            <a:ext cx="292608" cy="29260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577840" y="3108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strengths</a:t>
            </a:r>
            <a:endParaRPr lang="en-US" sz="1300"/>
          </a:p>
        </p:txBody>
      </p:sp>
      <p:sp>
        <p:nvSpPr>
          <p:cNvPr id="31" name="Text 21"/>
          <p:cNvSpPr/>
          <p:nvPr/>
        </p:nvSpPr>
        <p:spPr>
          <a:xfrm>
            <a:off x="5577840" y="342900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Practice-neutral seller comp. A lead engine we own end-to-end. 70 QBRs a quarter already running. A Proven Process that already promises outcomes at every stage. This is instrumentation, not rebuilding.</a:t>
            </a:r>
            <a:endParaRPr lang="en-US" sz="1000"/>
          </a:p>
        </p:txBody>
      </p:sp>
      <p:sp>
        <p:nvSpPr>
          <p:cNvPr id="32" name="Text 22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· Customer Impact 2027 — Internal</a:t>
            </a:r>
            <a:endParaRPr lang="en-US" sz="800"/>
          </a:p>
        </p:txBody>
      </p:sp>
      <p:sp>
        <p:nvSpPr>
          <p:cNvPr id="33" name="Text 23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3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/>
          </a:p>
        </p:txBody>
      </p:sp>
      <p:sp>
        <p:nvSpPr>
          <p:cNvPr id="3" name="Text 1"/>
          <p:cNvSpPr/>
          <p:nvPr/>
        </p:nvSpPr>
        <p:spPr>
          <a:xfrm>
            <a:off x="640080" y="17830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Impact Plan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640080" y="23957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 the promises the Proven Process already makes — no new stages, gates, meetings, or roles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 it, baseline it, deliver it, measure it —  </a:t>
            </a:r>
            <a:r>
              <a:rPr lang="en-US" sz="1600" b="1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that order.</a:t>
            </a:r>
            <a:endParaRPr lang="en-US" sz="1600"/>
          </a:p>
        </p:txBody>
      </p:sp>
      <p:sp>
        <p:nvSpPr>
          <p:cNvPr id="6" name="Text 4"/>
          <p:cNvSpPr/>
          <p:nvPr/>
        </p:nvSpPr>
        <p:spPr>
          <a:xfrm>
            <a:off x="640080" y="43891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8F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Proven Process (constant) · Outcome catalog &amp; plays · Advisory board sessions · Research docs 01–04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ONE THREAD, FIVE STAGES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Proven Process stays — we instrument it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333F4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CONSTANTS — Proven Process · PM / PL / Developers · four practices  →  Customer Impact adds artifacts and content, never structure (doc 11)</a:t>
            </a:r>
            <a:endParaRPr lang="en-US" sz="1050"/>
          </a:p>
        </p:txBody>
      </p:sp>
      <p:sp>
        <p:nvSpPr>
          <p:cNvPr id="6" name="Shape 4"/>
          <p:cNvSpPr/>
          <p:nvPr/>
        </p:nvSpPr>
        <p:spPr>
          <a:xfrm>
            <a:off x="896112" y="2066544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0" y="2066544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8" name="Shape 6"/>
          <p:cNvSpPr/>
          <p:nvPr/>
        </p:nvSpPr>
        <p:spPr>
          <a:xfrm>
            <a:off x="3675888" y="2066544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9" name="Shape 7"/>
          <p:cNvSpPr/>
          <p:nvPr/>
        </p:nvSpPr>
        <p:spPr>
          <a:xfrm>
            <a:off x="5065776" y="2066544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10" name="Shape 8"/>
          <p:cNvSpPr/>
          <p:nvPr/>
        </p:nvSpPr>
        <p:spPr>
          <a:xfrm>
            <a:off x="6455664" y="2066544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11" name="Shape 9"/>
          <p:cNvSpPr/>
          <p:nvPr/>
        </p:nvSpPr>
        <p:spPr>
          <a:xfrm>
            <a:off x="7845552" y="2066544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340864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407EC9"/>
            </a:solidFill>
            <a:prstDash val="solid"/>
          </a:ln>
          <a:effectLst>
            <a:outerShdw blurRad="508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" y="2395728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Envision</a:t>
            </a:r>
            <a:endParaRPr lang="en-US" sz="1000"/>
          </a:p>
        </p:txBody>
      </p:sp>
      <p:sp>
        <p:nvSpPr>
          <p:cNvPr id="14" name="Text 12"/>
          <p:cNvSpPr/>
          <p:nvPr/>
        </p:nvSpPr>
        <p:spPr>
          <a:xfrm>
            <a:off x="493776" y="2761488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reframe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in EOW</a:t>
            </a:r>
            <a:endParaRPr lang="en-US" sz="800"/>
          </a:p>
        </p:txBody>
      </p:sp>
      <p:sp>
        <p:nvSpPr>
          <p:cNvPr id="15" name="Shape 13"/>
          <p:cNvSpPr/>
          <p:nvPr/>
        </p:nvSpPr>
        <p:spPr>
          <a:xfrm>
            <a:off x="1847088" y="2340864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407EC9"/>
            </a:solidFill>
            <a:prstDash val="solid"/>
          </a:ln>
          <a:effectLst>
            <a:outerShdw blurRad="508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883664" y="2395728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1883664" y="2761488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captured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“impact confirmed”</a:t>
            </a:r>
            <a:endParaRPr lang="en-US" sz="800"/>
          </a:p>
        </p:txBody>
      </p:sp>
      <p:sp>
        <p:nvSpPr>
          <p:cNvPr id="18" name="Shape 16"/>
          <p:cNvSpPr/>
          <p:nvPr/>
        </p:nvSpPr>
        <p:spPr>
          <a:xfrm>
            <a:off x="3236976" y="2340864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407EC9"/>
            </a:solidFill>
            <a:prstDash val="solid"/>
          </a:ln>
          <a:effectLst>
            <a:outerShdw blurRad="508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73552" y="2395728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3273552" y="2761488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metric-tagged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stories + telemetry</a:t>
            </a:r>
            <a:endParaRPr lang="en-US" sz="800"/>
          </a:p>
        </p:txBody>
      </p:sp>
      <p:sp>
        <p:nvSpPr>
          <p:cNvPr id="21" name="Shape 19"/>
          <p:cNvSpPr/>
          <p:nvPr/>
        </p:nvSpPr>
        <p:spPr>
          <a:xfrm>
            <a:off x="4626864" y="2340864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407EC9"/>
            </a:solidFill>
            <a:prstDash val="solid"/>
          </a:ln>
          <a:effectLst>
            <a:outerShdw blurRad="508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2395728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4663440" y="2761488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T₀ recorded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adoption flowing</a:t>
            </a:r>
            <a:endParaRPr lang="en-US" sz="800"/>
          </a:p>
        </p:txBody>
      </p:sp>
      <p:sp>
        <p:nvSpPr>
          <p:cNvPr id="24" name="Shape 22"/>
          <p:cNvSpPr/>
          <p:nvPr/>
        </p:nvSpPr>
        <p:spPr>
          <a:xfrm>
            <a:off x="6016752" y="2340864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407EC9"/>
            </a:solidFill>
            <a:prstDash val="solid"/>
          </a:ln>
          <a:effectLst>
            <a:outerShdw blurRad="508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53328" y="2395728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Evolve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6053328" y="2761488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VRR in SBR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15 minutes</a:t>
            </a:r>
            <a:endParaRPr lang="en-US" sz="800"/>
          </a:p>
        </p:txBody>
      </p:sp>
      <p:sp>
        <p:nvSpPr>
          <p:cNvPr id="27" name="Shape 25"/>
          <p:cNvSpPr/>
          <p:nvPr/>
        </p:nvSpPr>
        <p:spPr>
          <a:xfrm>
            <a:off x="7406640" y="2340864"/>
            <a:ext cx="1298448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9050">
            <a:solidFill>
              <a:srgbClr val="7A52C7"/>
            </a:solidFill>
            <a:prstDash val="solid"/>
          </a:ln>
          <a:effectLst>
            <a:outerShdw blurRad="508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43216" y="2395728"/>
            <a:ext cx="12252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Flywheel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7443216" y="2761488"/>
            <a:ext cx="12252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next-highest impact</a:t>
            </a:r>
            <a:endParaRPr lang="en-US" sz="800"/>
          </a:p>
          <a:p>
            <a:pPr marL="0" indent="0" algn="ct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outcome lead</a:t>
            </a:r>
            <a:endParaRPr lang="en-US" sz="800"/>
          </a:p>
        </p:txBody>
      </p:sp>
      <p:sp>
        <p:nvSpPr>
          <p:cNvPr id="30" name="Shape 28"/>
          <p:cNvSpPr/>
          <p:nvPr/>
        </p:nvSpPr>
        <p:spPr>
          <a:xfrm>
            <a:off x="896112" y="3264408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31" name="Shape 29"/>
          <p:cNvSpPr/>
          <p:nvPr/>
        </p:nvSpPr>
        <p:spPr>
          <a:xfrm>
            <a:off x="2286000" y="3264408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32" name="Shape 30"/>
          <p:cNvSpPr/>
          <p:nvPr/>
        </p:nvSpPr>
        <p:spPr>
          <a:xfrm>
            <a:off x="3675888" y="3264408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33" name="Shape 31"/>
          <p:cNvSpPr/>
          <p:nvPr/>
        </p:nvSpPr>
        <p:spPr>
          <a:xfrm>
            <a:off x="5065776" y="3264408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34" name="Shape 32"/>
          <p:cNvSpPr/>
          <p:nvPr/>
        </p:nvSpPr>
        <p:spPr>
          <a:xfrm>
            <a:off x="6455664" y="3264408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35" name="Shape 33"/>
          <p:cNvSpPr/>
          <p:nvPr/>
        </p:nvSpPr>
        <p:spPr>
          <a:xfrm>
            <a:off x="7845552" y="3264408"/>
            <a:ext cx="201168" cy="219456"/>
          </a:xfrm>
          <a:prstGeom prst="downArrow">
            <a:avLst/>
          </a:prstGeom>
          <a:solidFill>
            <a:srgbClr val="5D6B76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" y="3547872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E7F0F9"/>
          </a:solidFill>
          <a:ln w="12700">
            <a:solidFill>
              <a:srgbClr val="407EC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54787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 signs hypothesis</a:t>
            </a:r>
            <a:endParaRPr lang="en-US" sz="880"/>
          </a:p>
        </p:txBody>
      </p:sp>
      <p:sp>
        <p:nvSpPr>
          <p:cNvPr id="38" name="Shape 36"/>
          <p:cNvSpPr/>
          <p:nvPr/>
        </p:nvSpPr>
        <p:spPr>
          <a:xfrm>
            <a:off x="1847088" y="3547872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E7F0F9"/>
          </a:solidFill>
          <a:ln w="12700">
            <a:solidFill>
              <a:srgbClr val="407E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47088" y="354787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carries custody</a:t>
            </a:r>
            <a:endParaRPr lang="en-US" sz="880"/>
          </a:p>
        </p:txBody>
      </p:sp>
      <p:sp>
        <p:nvSpPr>
          <p:cNvPr id="40" name="Shape 38"/>
          <p:cNvSpPr/>
          <p:nvPr/>
        </p:nvSpPr>
        <p:spPr>
          <a:xfrm>
            <a:off x="3236976" y="3547872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E7F0F9"/>
          </a:solidFill>
          <a:ln w="12700">
            <a:solidFill>
              <a:srgbClr val="407E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36976" y="354787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 owns telemetry</a:t>
            </a:r>
            <a:endParaRPr lang="en-US" sz="880"/>
          </a:p>
        </p:txBody>
      </p:sp>
      <p:sp>
        <p:nvSpPr>
          <p:cNvPr id="42" name="Shape 40"/>
          <p:cNvSpPr/>
          <p:nvPr/>
        </p:nvSpPr>
        <p:spPr>
          <a:xfrm>
            <a:off x="4626864" y="3547872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E7F0F9"/>
          </a:solidFill>
          <a:ln w="12700">
            <a:solidFill>
              <a:srgbClr val="407EC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26864" y="354787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runs the VRR</a:t>
            </a:r>
            <a:endParaRPr lang="en-US" sz="880"/>
          </a:p>
        </p:txBody>
      </p:sp>
      <p:sp>
        <p:nvSpPr>
          <p:cNvPr id="44" name="Shape 42"/>
          <p:cNvSpPr/>
          <p:nvPr/>
        </p:nvSpPr>
        <p:spPr>
          <a:xfrm>
            <a:off x="6016752" y="3547872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E7F0F9"/>
          </a:solidFill>
          <a:ln w="12700">
            <a:solidFill>
              <a:srgbClr val="407EC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16752" y="354787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records</a:t>
            </a:r>
            <a:endParaRPr lang="en-US" sz="880"/>
          </a:p>
        </p:txBody>
      </p:sp>
      <p:sp>
        <p:nvSpPr>
          <p:cNvPr id="46" name="Shape 44"/>
          <p:cNvSpPr/>
          <p:nvPr/>
        </p:nvSpPr>
        <p:spPr>
          <a:xfrm>
            <a:off x="7406640" y="3547872"/>
            <a:ext cx="1298448" cy="384048"/>
          </a:xfrm>
          <a:prstGeom prst="roundRect">
            <a:avLst>
              <a:gd name="adj" fmla="val 50000"/>
            </a:avLst>
          </a:prstGeom>
          <a:solidFill>
            <a:srgbClr val="E7F0F9"/>
          </a:solidFill>
          <a:ln w="12700">
            <a:solidFill>
              <a:srgbClr val="407EC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406640" y="3547872"/>
            <a:ext cx="12984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8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Flywheel returns</a:t>
            </a:r>
            <a:endParaRPr lang="en-US" sz="880"/>
          </a:p>
        </p:txBody>
      </p:sp>
      <p:sp>
        <p:nvSpPr>
          <p:cNvPr id="48" name="Shape 46"/>
          <p:cNvSpPr/>
          <p:nvPr/>
        </p:nvSpPr>
        <p:spPr>
          <a:xfrm>
            <a:off x="457200" y="4114800"/>
            <a:ext cx="8229600" cy="566928"/>
          </a:xfrm>
          <a:prstGeom prst="roundRect">
            <a:avLst>
              <a:gd name="adj" fmla="val 11290"/>
            </a:avLst>
          </a:prstGeom>
          <a:solidFill>
            <a:srgbClr val="E7F0F9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58368" y="411480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handoff rail:  </a:t>
            </a:r>
            <a:r>
              <a:rPr lang="en-US" sz="100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 signs hypothesis → Sales-to-Delivery kickoff walkthrough → PM custody + PL telemetry through Launch → PM closure hands the thread to SAM/AE + Customer Advocacy → VRR every quarter. Existing duties, one artifact.</a:t>
            </a:r>
            <a:endParaRPr lang="en-US" sz="1000"/>
          </a:p>
        </p:txBody>
      </p:sp>
      <p:sp>
        <p:nvSpPr>
          <p:cNvPr id="50" name="Text 48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· Customer Impact 2027 — Internal</a:t>
            </a:r>
            <a:endParaRPr lang="en-US" sz="800"/>
          </a:p>
        </p:txBody>
      </p:sp>
      <p:sp>
        <p:nvSpPr>
          <p:cNvPr id="51" name="Text 49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THE ARTIFACTS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50913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hypothesis — measured from EOW to renewal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993392" cy="1051560"/>
          </a:xfrm>
          <a:prstGeom prst="roundRect">
            <a:avLst>
              <a:gd name="adj" fmla="val 6087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9844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530352" y="171907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Hypothesis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deal above the threshold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587752" y="1207008"/>
            <a:ext cx="1993392" cy="1051560"/>
          </a:xfrm>
          <a:prstGeom prst="roundRect">
            <a:avLst>
              <a:gd name="adj" fmla="val 6087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87752" y="129844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/>
          </a:p>
        </p:txBody>
      </p:sp>
      <p:sp>
        <p:nvSpPr>
          <p:cNvPr id="9" name="Text 7"/>
          <p:cNvSpPr/>
          <p:nvPr/>
        </p:nvSpPr>
        <p:spPr>
          <a:xfrm>
            <a:off x="2660904" y="171907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artifacts, one thread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· baseline · scorecard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4718304" y="1207008"/>
            <a:ext cx="1993392" cy="1051560"/>
          </a:xfrm>
          <a:prstGeom prst="roundRect">
            <a:avLst>
              <a:gd name="adj" fmla="val 6087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18304" y="129844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 → 70</a:t>
            </a:r>
            <a:endParaRPr lang="en-US" sz="2600"/>
          </a:p>
        </p:txBody>
      </p:sp>
      <p:sp>
        <p:nvSpPr>
          <p:cNvPr id="12" name="Text 10"/>
          <p:cNvSpPr/>
          <p:nvPr/>
        </p:nvSpPr>
        <p:spPr>
          <a:xfrm>
            <a:off x="4791456" y="171907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QBRs per quarter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meetings, upgraded content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6848856" y="1207008"/>
            <a:ext cx="1993392" cy="1051560"/>
          </a:xfrm>
          <a:prstGeom prst="roundRect">
            <a:avLst>
              <a:gd name="adj" fmla="val 6087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48856" y="1298448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600"/>
          </a:p>
        </p:txBody>
      </p:sp>
      <p:sp>
        <p:nvSpPr>
          <p:cNvPr id="15" name="Text 13"/>
          <p:cNvSpPr/>
          <p:nvPr/>
        </p:nvSpPr>
        <p:spPr>
          <a:xfrm>
            <a:off x="6922008" y="1719072"/>
            <a:ext cx="18470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meetings or roles</a:t>
            </a:r>
            <a:endParaRPr lang="en-US" sz="900"/>
          </a:p>
          <a:p>
            <a:pPr marL="0" indent="0" algn="ctr">
              <a:buNone/>
            </a:pPr>
            <a:r>
              <a:rPr lang="en-US" sz="9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instrumentation = configuration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457200" y="2487168"/>
            <a:ext cx="4160520" cy="2011680"/>
          </a:xfrm>
          <a:prstGeom prst="roundRect">
            <a:avLst>
              <a:gd name="adj" fmla="val 3182"/>
            </a:avLst>
          </a:prstGeom>
          <a:solidFill>
            <a:srgbClr val="FFFFF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" y="2651760"/>
            <a:ext cx="457200" cy="457200"/>
          </a:xfrm>
          <a:prstGeom prst="ellipse">
            <a:avLst/>
          </a:prstGeom>
          <a:solidFill>
            <a:srgbClr val="407EC9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24912"/>
            <a:ext cx="310896" cy="31089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234440" y="2670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runs</a:t>
            </a:r>
            <a:endParaRPr lang="en-US" sz="1300"/>
          </a:p>
        </p:txBody>
      </p:sp>
      <p:sp>
        <p:nvSpPr>
          <p:cNvPr id="20" name="Text 17"/>
          <p:cNvSpPr/>
          <p:nvPr/>
        </p:nvSpPr>
        <p:spPr>
          <a:xfrm>
            <a:off x="685800" y="312724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AE authors the hypothesis with the metric owner; it rides in the Flag Plant and EOW</a:t>
            </a:r>
            <a:endParaRPr lang="en-US" sz="105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carries custody; PL captures the baseline before build</a:t>
            </a:r>
            <a:endParaRPr lang="en-US" sz="1050"/>
          </a:p>
          <a:p>
            <a:pPr marL="342900" indent="-342900">
              <a:lnSpc>
                <a:spcPts val="1800"/>
              </a:lnSpc>
              <a:buSzPct val="100000"/>
              <a:buChar char="•"/>
            </a:pPr>
            <a:r>
              <a:rPr lang="en-US" sz="10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SBRs open with the Impact Scorecard; each emits a record</a:t>
            </a:r>
            <a:endParaRPr lang="en-US" sz="1050"/>
          </a:p>
        </p:txBody>
      </p:sp>
      <p:sp>
        <p:nvSpPr>
          <p:cNvPr id="21" name="Shape 18"/>
          <p:cNvSpPr/>
          <p:nvPr/>
        </p:nvSpPr>
        <p:spPr>
          <a:xfrm>
            <a:off x="4800600" y="2487168"/>
            <a:ext cx="3886200" cy="2011680"/>
          </a:xfrm>
          <a:prstGeom prst="roundRect">
            <a:avLst>
              <a:gd name="adj" fmla="val 3182"/>
            </a:avLst>
          </a:prstGeom>
          <a:solidFill>
            <a:srgbClr val="0F2231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029200" y="261518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F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impact_hypothesis — the fields</a:t>
            </a:r>
            <a:endParaRPr lang="en-US" sz="1100"/>
          </a:p>
        </p:txBody>
      </p:sp>
      <p:sp>
        <p:nvSpPr>
          <p:cNvPr id="23" name="Text 20"/>
          <p:cNvSpPr/>
          <p:nvPr/>
        </p:nvSpPr>
        <p:spPr>
          <a:xfrm>
            <a:off x="5029200" y="2907792"/>
            <a:ext cx="35204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0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     Example</a:t>
            </a:r>
            <a:endParaRPr lang="en-US" sz="900"/>
          </a:p>
          <a:p>
            <a:pPr marL="0" indent="0">
              <a:lnSpc>
                <a:spcPts val="1300"/>
              </a:lnSpc>
              <a:buNone/>
            </a:pPr>
            <a:r>
              <a:rPr lang="en-US" sz="90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--------  ----------------------</a:t>
            </a:r>
            <a:endParaRPr lang="en-US" sz="900"/>
          </a:p>
          <a:p>
            <a:pPr marL="0" indent="0">
              <a:lnSpc>
                <a:spcPts val="1300"/>
              </a:lnSpc>
              <a:buNone/>
            </a:pPr>
            <a:r>
              <a:rPr lang="en-US" sz="90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Outcome   Close in 5 days, not 12</a:t>
            </a:r>
            <a:endParaRPr lang="en-US" sz="900"/>
          </a:p>
          <a:p>
            <a:pPr marL="0" indent="0">
              <a:lnSpc>
                <a:spcPts val="1300"/>
              </a:lnSpc>
              <a:buNone/>
            </a:pPr>
            <a:r>
              <a:rPr lang="en-US" sz="90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    Days to close (monthly)</a:t>
            </a:r>
            <a:endParaRPr lang="en-US" sz="900"/>
          </a:p>
          <a:p>
            <a:pPr marL="0" indent="0">
              <a:lnSpc>
                <a:spcPts val="1300"/>
              </a:lnSpc>
              <a:buNone/>
            </a:pPr>
            <a:r>
              <a:rPr lang="en-US" sz="90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  12.4 days — measured</a:t>
            </a:r>
            <a:endParaRPr lang="en-US" sz="900"/>
          </a:p>
          <a:p>
            <a:pPr marL="0" indent="0">
              <a:lnSpc>
                <a:spcPts val="1300"/>
              </a:lnSpc>
              <a:buNone/>
            </a:pPr>
            <a:r>
              <a:rPr lang="en-US" sz="90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   5.0 by Q3 2027 · CFO owns</a:t>
            </a:r>
            <a:endParaRPr lang="en-US" sz="900"/>
          </a:p>
          <a:p>
            <a:pPr marL="0" indent="0">
              <a:lnSpc>
                <a:spcPts val="1300"/>
              </a:lnSpc>
              <a:buNone/>
            </a:pPr>
            <a:endParaRPr lang="en-US" sz="900"/>
          </a:p>
          <a:p>
            <a:pPr marL="0" indent="0">
              <a:lnSpc>
                <a:spcPts val="1300"/>
              </a:lnSpc>
              <a:buNone/>
            </a:pPr>
            <a:r>
              <a:rPr lang="en-US" sz="90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measurement plan: data owner, cadence,</a:t>
            </a:r>
            <a:endParaRPr lang="en-US" sz="900"/>
          </a:p>
          <a:p>
            <a:pPr marL="0" indent="0">
              <a:lnSpc>
                <a:spcPts val="1300"/>
              </a:lnSpc>
              <a:buNone/>
            </a:pPr>
            <a:r>
              <a:rPr lang="en-US" sz="900">
                <a:solidFill>
                  <a:srgbClr val="D7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first VRR date — set at project kickoff</a:t>
            </a:r>
            <a:endParaRPr lang="en-US" sz="900"/>
          </a:p>
        </p:txBody>
      </p:sp>
      <p:sp>
        <p:nvSpPr>
          <p:cNvPr id="24" name="Text 21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· Customer Impact 2027 — Internal</a:t>
            </a:r>
            <a:endParaRPr lang="en-US" sz="800"/>
          </a:p>
        </p:txBody>
      </p:sp>
      <p:sp>
        <p:nvSpPr>
          <p:cNvPr id="25" name="Text 22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THE SHIFT IN ONE SLIDE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technology vs selling Customer Impact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4114800" cy="2788920"/>
          </a:xfrm>
          <a:prstGeom prst="roundRect">
            <a:avLst>
              <a:gd name="adj" fmla="val 2295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71600"/>
            <a:ext cx="457200" cy="457200"/>
          </a:xfrm>
          <a:prstGeom prst="ellipse">
            <a:avLst/>
          </a:prstGeom>
          <a:solidFill>
            <a:srgbClr val="407EC9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45389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389888"/>
            <a:ext cx="3246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 — the technology project</a:t>
            </a:r>
            <a:endParaRPr lang="en-US" sz="1250"/>
          </a:p>
        </p:txBody>
      </p:sp>
      <p:sp>
        <p:nvSpPr>
          <p:cNvPr id="8" name="Text 5"/>
          <p:cNvSpPr/>
          <p:nvPr/>
        </p:nvSpPr>
        <p:spPr>
          <a:xfrm>
            <a:off x="685800" y="1938528"/>
            <a:ext cx="370332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customer self-diagnoses (“we need Power BI”); we quote what they asked for and get price-shopped against near-identical partners</a:t>
            </a:r>
            <a:endParaRPr lang="en-US" sz="103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appears on a sales slide, then disappears — no baseline, nothing to measure against later</a:t>
            </a:r>
            <a:endParaRPr lang="en-US" sz="103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 ends the engagement; the next deal starts from zero</a:t>
            </a:r>
            <a:endParaRPr lang="en-US" sz="103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says “they were great to work with”</a:t>
            </a:r>
            <a:endParaRPr lang="en-US" sz="1030"/>
          </a:p>
        </p:txBody>
      </p:sp>
      <p:sp>
        <p:nvSpPr>
          <p:cNvPr id="9" name="Shape 6"/>
          <p:cNvSpPr/>
          <p:nvPr/>
        </p:nvSpPr>
        <p:spPr>
          <a:xfrm>
            <a:off x="4709160" y="1207008"/>
            <a:ext cx="3977640" cy="2788920"/>
          </a:xfrm>
          <a:prstGeom prst="roundRect">
            <a:avLst>
              <a:gd name="adj" fmla="val 2295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10328" y="1371600"/>
            <a:ext cx="457200" cy="457200"/>
          </a:xfrm>
          <a:prstGeom prst="ellipse">
            <a:avLst/>
          </a:prstGeom>
          <a:solidFill>
            <a:srgbClr val="7A52C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145389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389888"/>
            <a:ext cx="31089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— the impact engagement</a:t>
            </a:r>
            <a:endParaRPr lang="en-US" sz="1250"/>
          </a:p>
        </p:txBody>
      </p:sp>
      <p:sp>
        <p:nvSpPr>
          <p:cNvPr id="13" name="Text 9"/>
          <p:cNvSpPr/>
          <p:nvPr/>
        </p:nvSpPr>
        <p:spPr>
          <a:xfrm>
            <a:off x="4937760" y="1938528"/>
            <a:ext cx="356616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seller reframes with the play’s insight kit and qualifies the metric-owning executive</a:t>
            </a:r>
            <a:endParaRPr lang="en-US" sz="103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Hypothesis signed, baseline captured before build; metric-touching changes go to its owner</a:t>
            </a:r>
            <a:endParaRPr lang="en-US" sz="103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VRRs turn results into the next opportunity — expansion by default</a:t>
            </a:r>
            <a:endParaRPr lang="en-US" sz="1030"/>
          </a:p>
          <a:p>
            <a:pPr marL="342900" indent="-342900">
              <a:lnSpc>
                <a:spcPts val="1700"/>
              </a:lnSpc>
              <a:buSzPct val="100000"/>
              <a:buChar char="•"/>
            </a:pPr>
            <a:r>
              <a:rPr lang="en-US" sz="103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reference says “they cut our close from 12 days to 5”</a:t>
            </a:r>
            <a:endParaRPr lang="en-US" sz="1030"/>
          </a:p>
        </p:txBody>
      </p:sp>
      <p:sp>
        <p:nvSpPr>
          <p:cNvPr id="14" name="Shape 10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E7F0F9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58368" y="4160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before scale: two plays, 3–5 existing accounts, Q1 2027 </a:t>
            </a:r>
            <a:r>
              <a:rPr lang="en-US" sz="10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with kill criteria published up front. Prove the motion, then enable every seller in Q2.</a:t>
            </a:r>
            <a:endParaRPr lang="en-US" sz="1050"/>
          </a:p>
        </p:txBody>
      </p:sp>
      <p:sp>
        <p:nvSpPr>
          <p:cNvPr id="16" name="Text 12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· Customer Impact 2027 — Internal</a:t>
            </a:r>
            <a:endParaRPr lang="en-US" sz="800"/>
          </a:p>
        </p:txBody>
      </p:sp>
      <p:sp>
        <p:nvSpPr>
          <p:cNvPr id="17" name="Text 13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WHAT ACTUALLY CHANGES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workstreams — all content, no structure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80744"/>
            <a:ext cx="457200" cy="457200"/>
          </a:xfrm>
          <a:prstGeom prst="ellipse">
            <a:avLst/>
          </a:prstGeom>
          <a:solidFill>
            <a:srgbClr val="333F4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4630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 demand gen</a:t>
            </a:r>
            <a:endParaRPr lang="en-US" sz="1300"/>
          </a:p>
        </p:txBody>
      </p:sp>
      <p:sp>
        <p:nvSpPr>
          <p:cNvPr id="8" name="Text 5"/>
          <p:cNvSpPr/>
          <p:nvPr/>
        </p:nvSpPr>
        <p:spPr>
          <a:xfrm>
            <a:off x="621792" y="1920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Campaigns, sequences, and content re-keyed to plays and buyer outcomes — cause 1 dies at the source because the leads are ours; Customer Advocacy publishes measured results</a:t>
            </a:r>
            <a:endParaRPr lang="en-US" sz="950"/>
          </a:p>
        </p:txBody>
      </p:sp>
      <p:sp>
        <p:nvSpPr>
          <p:cNvPr id="9" name="Shape 6"/>
          <p:cNvSpPr/>
          <p:nvPr/>
        </p:nvSpPr>
        <p:spPr>
          <a:xfrm>
            <a:off x="3291840" y="123444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56432" y="1380744"/>
            <a:ext cx="457200" cy="457200"/>
          </a:xfrm>
          <a:prstGeom prst="ellipse">
            <a:avLst/>
          </a:prstGeom>
          <a:solidFill>
            <a:srgbClr val="333F4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146304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23360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kits + Sales Agent</a:t>
            </a:r>
            <a:endParaRPr lang="en-US" sz="1300"/>
          </a:p>
        </p:txBody>
      </p:sp>
      <p:sp>
        <p:nvSpPr>
          <p:cNvPr id="13" name="Text 9"/>
          <p:cNvSpPr/>
          <p:nvPr/>
        </p:nvSpPr>
        <p:spPr>
          <a:xfrm>
            <a:off x="3456432" y="1920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Per-play teaching narratives, benchmarks, and cost-of-status-quo math — loaded into the Envision Sales Agent so every seller can challenge a label in the flow of work</a:t>
            </a:r>
            <a:endParaRPr lang="en-US" sz="950"/>
          </a:p>
        </p:txBody>
      </p:sp>
      <p:sp>
        <p:nvSpPr>
          <p:cNvPr id="14" name="Shape 10"/>
          <p:cNvSpPr/>
          <p:nvPr/>
        </p:nvSpPr>
        <p:spPr>
          <a:xfrm>
            <a:off x="6126480" y="123444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1380744"/>
            <a:ext cx="457200" cy="457200"/>
          </a:xfrm>
          <a:prstGeom prst="ellipse">
            <a:avLst/>
          </a:prstGeom>
          <a:solidFill>
            <a:srgbClr val="333F4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4630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58000" y="141732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Plays &amp; paid discovery</a:t>
            </a:r>
            <a:endParaRPr lang="en-US" sz="1300"/>
          </a:p>
        </p:txBody>
      </p:sp>
      <p:sp>
        <p:nvSpPr>
          <p:cNvPr id="18" name="Text 13"/>
          <p:cNvSpPr/>
          <p:nvPr/>
        </p:nvSpPr>
        <p:spPr>
          <a:xfrm>
            <a:off x="6291072" y="19202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named cross-practice plays with fixed-fee entry assessments; the Strategy Session sells or runs the discovery that produces the Value Baseline</a:t>
            </a:r>
            <a:endParaRPr lang="en-US" sz="95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1792" y="3026664"/>
            <a:ext cx="457200" cy="457200"/>
          </a:xfrm>
          <a:prstGeom prst="ellipse">
            <a:avLst/>
          </a:prstGeom>
          <a:solidFill>
            <a:srgbClr val="407EC9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10896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3063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&amp; incentives</a:t>
            </a:r>
            <a:endParaRPr lang="en-US" sz="1300"/>
          </a:p>
        </p:txBody>
      </p:sp>
      <p:sp>
        <p:nvSpPr>
          <p:cNvPr id="23" name="Text 17"/>
          <p:cNvSpPr/>
          <p:nvPr/>
        </p:nvSpPr>
        <p:spPr>
          <a:xfrm>
            <a:off x="621792" y="3566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practice-neutral seller comp; one shared multi-practice metric for all four PDs; behavior accelerators in year one; attribution rules written once — never negotiated per deal</a:t>
            </a:r>
            <a:endParaRPr lang="en-US" sz="950"/>
          </a:p>
        </p:txBody>
      </p:sp>
      <p:sp>
        <p:nvSpPr>
          <p:cNvPr id="24" name="Shape 18"/>
          <p:cNvSpPr/>
          <p:nvPr/>
        </p:nvSpPr>
        <p:spPr>
          <a:xfrm>
            <a:off x="3291840" y="288036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456432" y="3026664"/>
            <a:ext cx="457200" cy="457200"/>
          </a:xfrm>
          <a:prstGeom prst="ellipse">
            <a:avLst/>
          </a:prstGeom>
          <a:solidFill>
            <a:srgbClr val="407EC9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310896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23360" y="3063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Measurement backbone</a:t>
            </a:r>
            <a:endParaRPr lang="en-US" sz="1300"/>
          </a:p>
        </p:txBody>
      </p:sp>
      <p:sp>
        <p:nvSpPr>
          <p:cNvPr id="28" name="Text 21"/>
          <p:cNvSpPr/>
          <p:nvPr/>
        </p:nvSpPr>
        <p:spPr>
          <a:xfrm>
            <a:off x="3456432" y="3566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templates, adoption telemetry, and one-page Impact Scorecards — built once by Data &amp; AI, read by every stage from kickoff to renewal</a:t>
            </a:r>
            <a:endParaRPr lang="en-US" sz="950"/>
          </a:p>
        </p:txBody>
      </p:sp>
      <p:sp>
        <p:nvSpPr>
          <p:cNvPr id="29" name="Shape 22"/>
          <p:cNvSpPr/>
          <p:nvPr/>
        </p:nvSpPr>
        <p:spPr>
          <a:xfrm>
            <a:off x="6126480" y="2880360"/>
            <a:ext cx="2651760" cy="1481328"/>
          </a:xfrm>
          <a:prstGeom prst="roundRect">
            <a:avLst>
              <a:gd name="adj" fmla="val 4321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291072" y="3026664"/>
            <a:ext cx="457200" cy="457200"/>
          </a:xfrm>
          <a:prstGeom prst="ellipse">
            <a:avLst/>
          </a:prstGeom>
          <a:solidFill>
            <a:srgbClr val="7A52C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73368" y="310896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0" y="3063240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NOT changing</a:t>
            </a:r>
            <a:endParaRPr lang="en-US" sz="1300"/>
          </a:p>
        </p:txBody>
      </p:sp>
      <p:sp>
        <p:nvSpPr>
          <p:cNvPr id="33" name="Text 25"/>
          <p:cNvSpPr/>
          <p:nvPr/>
        </p:nvSpPr>
        <p:spPr>
          <a:xfrm>
            <a:off x="6291072" y="35661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95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Proven Process, the three project roles, the four practices, delivery methodologies, and sub-threshold work — declared constants (doc 11)</a:t>
            </a:r>
            <a:endParaRPr lang="en-US" sz="950"/>
          </a:p>
        </p:txBody>
      </p:sp>
      <p:sp>
        <p:nvSpPr>
          <p:cNvPr id="34" name="Text 26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· Customer Impact 2027 — Internal</a:t>
            </a:r>
            <a:endParaRPr lang="en-US" sz="800"/>
          </a:p>
        </p:txBody>
      </p:sp>
      <p:sp>
        <p:nvSpPr>
          <p:cNvPr id="35" name="Text 27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THE PLAYS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plays — multi-practice by design</a:t>
            </a:r>
            <a:endParaRPr lang="en-US" sz="250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11020"/>
              </p:ext>
            </p:extLst>
          </p:nvPr>
        </p:nvGraphicFramePr>
        <p:xfrm>
          <a:off x="457200" y="1234440"/>
          <a:ext cx="8229600" cy="2688336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Outcome &amp; buyer</a:t>
                      </a:r>
                      <a:endParaRPr lang="en-US" sz="1000">
                        <a:latin typeface="Arial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Practices &amp; entry point</a:t>
                      </a:r>
                      <a:endParaRPr lang="en-US" sz="10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Pilot</a:t>
                      </a:r>
                      <a:endParaRPr lang="en-US" sz="1000">
                        <a:latin typeface="Arial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AI-Ready Secure Data Estate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“Adopt AI without leaking data” — CIO/CISO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D&amp;AI + SEC + C&amp;D · AI Readiness &amp; Risk Assessment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Modern Finance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“Close in 5 days, trust the forecast” — CFO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 + D&amp;AI + C&amp;D · Finance Impact Assessment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Sales Velocity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“More pipeline converted, faster” — CRO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C&amp;D + D&amp;AI · Revenue Process Assessment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Secure Productivity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“Copilot that provably pays” — CIO + CISO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C&amp;D + SEC + D&amp;AI · Copilot Value &amp; Security Sprint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Order-to-Cash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“Cash in the door faster” — COO/CFO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BC + C&amp;D + D&amp;AI · O2C Process Baseline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&amp; Compliance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“Pass the audit, stay insurable” — CISO/CFO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 + D&amp;AI + BC · Security &amp; Compliance Baseline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3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</a:t>
                      </a:r>
                      <a:endParaRPr lang="en-US" sz="93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988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entry point is a fixed-fee assessment (2–4 weeks) that produces the Value Baseline. Publishing tiered pricing with an implementation credit-back is unclaimed whitespace in our market (research 04). Lead practice per play named in doc 04.</a:t>
            </a:r>
            <a:endParaRPr lang="en-US" sz="950"/>
          </a:p>
        </p:txBody>
      </p:sp>
      <p:sp>
        <p:nvSpPr>
          <p:cNvPr id="6" name="Text 3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· Customer Impact 2027 — Internal</a:t>
            </a:r>
            <a:endParaRPr lang="en-US" sz="800"/>
          </a:p>
        </p:txBody>
      </p:sp>
      <p:sp>
        <p:nvSpPr>
          <p:cNvPr id="7" name="Text 4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 · THE ROADMAP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>
                <a:solidFill>
                  <a:srgbClr val="333F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phases — each earns the next</a:t>
            </a:r>
            <a:endParaRPr lang="en-US" sz="250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280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· Prepare</a:t>
            </a:r>
            <a:endParaRPr lang="en-US" sz="1150"/>
          </a:p>
        </p:txBody>
      </p:sp>
      <p:sp>
        <p:nvSpPr>
          <p:cNvPr id="6" name="Text 4"/>
          <p:cNvSpPr/>
          <p:nvPr/>
        </p:nvSpPr>
        <p:spPr>
          <a:xfrm>
            <a:off x="548640" y="1536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8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2026: baselines measured, insight kits built, comp designed, threshold set — prep, not launch</a:t>
            </a:r>
            <a:endParaRPr lang="en-US" sz="880"/>
          </a:p>
        </p:txBody>
      </p:sp>
      <p:sp>
        <p:nvSpPr>
          <p:cNvPr id="7" name="Shape 5"/>
          <p:cNvSpPr/>
          <p:nvPr/>
        </p:nvSpPr>
        <p:spPr>
          <a:xfrm>
            <a:off x="2432304" y="1536192"/>
            <a:ext cx="164592" cy="182880"/>
          </a:xfrm>
          <a:prstGeom prst="rightArrow">
            <a:avLst/>
          </a:prstGeom>
          <a:solidFill>
            <a:srgbClr val="5D6B76"/>
          </a:solidFill>
          <a:ln/>
        </p:spPr>
      </p:sp>
      <p:sp>
        <p:nvSpPr>
          <p:cNvPr id="8" name="Shape 6"/>
          <p:cNvSpPr/>
          <p:nvPr/>
        </p:nvSpPr>
        <p:spPr>
          <a:xfrm>
            <a:off x="2587752" y="1207008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79192" y="1280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Pilot</a:t>
            </a:r>
            <a:endParaRPr lang="en-US" sz="1150"/>
          </a:p>
        </p:txBody>
      </p:sp>
      <p:sp>
        <p:nvSpPr>
          <p:cNvPr id="10" name="Text 8"/>
          <p:cNvSpPr/>
          <p:nvPr/>
        </p:nvSpPr>
        <p:spPr>
          <a:xfrm>
            <a:off x="2679192" y="1536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8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2027: two plays, 3–5 existing accounts, first paid discoveries and signed hypotheses</a:t>
            </a:r>
            <a:endParaRPr lang="en-US" sz="880"/>
          </a:p>
        </p:txBody>
      </p:sp>
      <p:sp>
        <p:nvSpPr>
          <p:cNvPr id="11" name="Shape 9"/>
          <p:cNvSpPr/>
          <p:nvPr/>
        </p:nvSpPr>
        <p:spPr>
          <a:xfrm>
            <a:off x="4562856" y="1536192"/>
            <a:ext cx="164592" cy="182880"/>
          </a:xfrm>
          <a:prstGeom prst="rightArrow">
            <a:avLst/>
          </a:prstGeom>
          <a:solidFill>
            <a:srgbClr val="5D6B76"/>
          </a:solidFill>
          <a:ln/>
        </p:spPr>
      </p:sp>
      <p:sp>
        <p:nvSpPr>
          <p:cNvPr id="12" name="Shape 10"/>
          <p:cNvSpPr/>
          <p:nvPr/>
        </p:nvSpPr>
        <p:spPr>
          <a:xfrm>
            <a:off x="4718304" y="1207008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9744" y="1280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Enable</a:t>
            </a:r>
            <a:endParaRPr lang="en-US" sz="1150"/>
          </a:p>
        </p:txBody>
      </p:sp>
      <p:sp>
        <p:nvSpPr>
          <p:cNvPr id="14" name="Text 12"/>
          <p:cNvSpPr/>
          <p:nvPr/>
        </p:nvSpPr>
        <p:spPr>
          <a:xfrm>
            <a:off x="4809744" y="1536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8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2027: every seller trained, remaining plays launched, agent coaching live</a:t>
            </a:r>
            <a:endParaRPr lang="en-US" sz="880"/>
          </a:p>
        </p:txBody>
      </p:sp>
      <p:sp>
        <p:nvSpPr>
          <p:cNvPr id="15" name="Shape 13"/>
          <p:cNvSpPr/>
          <p:nvPr/>
        </p:nvSpPr>
        <p:spPr>
          <a:xfrm>
            <a:off x="6693408" y="1536192"/>
            <a:ext cx="164592" cy="182880"/>
          </a:xfrm>
          <a:prstGeom prst="rightArrow">
            <a:avLst/>
          </a:prstGeom>
          <a:solidFill>
            <a:srgbClr val="5D6B76"/>
          </a:solidFill>
          <a:ln/>
        </p:spPr>
      </p:sp>
      <p:sp>
        <p:nvSpPr>
          <p:cNvPr id="16" name="Shape 14"/>
          <p:cNvSpPr/>
          <p:nvPr/>
        </p:nvSpPr>
        <p:spPr>
          <a:xfrm>
            <a:off x="6848856" y="1207008"/>
            <a:ext cx="1993392" cy="868680"/>
          </a:xfrm>
          <a:prstGeom prst="roundRect">
            <a:avLst>
              <a:gd name="adj" fmla="val 7368"/>
            </a:avLst>
          </a:prstGeom>
          <a:solidFill>
            <a:srgbClr val="F7F9FB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0296" y="128016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407E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Scale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6940296" y="1536192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88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2027: quantified case studies published; comp tuned; 2028 pricing-ladder decision</a:t>
            </a:r>
            <a:endParaRPr lang="en-US" sz="88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769624"/>
              </p:ext>
            </p:extLst>
          </p:nvPr>
        </p:nvGraphicFramePr>
        <p:xfrm>
          <a:off x="457200" y="2286000"/>
          <a:ext cx="8229600" cy="1901952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/>
                          <a:ea typeface="Arial" pitchFamily="34" charset="-122"/>
                          <a:cs typeface="Arial"/>
                        </a:rPr>
                        <a:t>Phase</a:t>
                      </a:r>
                      <a:endParaRPr lang="en-US" sz="900">
                        <a:latin typeface="Arial"/>
                        <a:ea typeface="Arial" charset="0"/>
                        <a:cs typeface="Arial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Window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ships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Exit criteria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Quick wins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Watch</a:t>
                      </a:r>
                      <a:endParaRPr lang="en-US" sz="90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· Prepare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 2026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Baselines; insight kits; comp + rules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Facts measured; rules out by Jan 1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>
                          <a:solidFill>
                            <a:srgbClr val="B7C2C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Mix fields in CRM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Fish budgeted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· Pilot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 2027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plays live; paid discoveries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≥3 discoveries; 1 phase-1 win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baselines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>
                          <a:solidFill>
                            <a:srgbClr val="B7C2C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 criteria armed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· Enable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Q2 2027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sellers; 4 more plays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Hypotheses on 100% big deals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VRRs held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Sellers reverting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· Scale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H2 2027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Quantified case studies; VRR pipeline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≥25% multi-practice; 5 refs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80">
                          <a:solidFill>
                            <a:srgbClr val="1F2A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Renewal lifts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80">
                          <a:solidFill>
                            <a:srgbClr val="B7C2C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 metric honesty</a:t>
                      </a:r>
                      <a:endParaRPr lang="en-US" sz="88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45720" marR="45720" anchor="ctr">
                    <a:lnL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12727"/>
            </a:avLst>
          </a:prstGeom>
          <a:solidFill>
            <a:srgbClr val="FBF6DF"/>
          </a:solidFill>
          <a:ln w="12700">
            <a:solidFill>
              <a:srgbClr val="E3E8EC"/>
            </a:solidFill>
            <a:prstDash val="solid"/>
          </a:ln>
          <a:effectLst>
            <a:outerShdw blurRad="76200" dist="25400" dir="2700000" algn="bl" rotWithShape="0">
              <a:srgbClr val="1F2A33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58368" y="416052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8A6D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phase earns the next — </a:t>
            </a:r>
            <a:r>
              <a:rPr lang="en-US" sz="950">
                <a:solidFill>
                  <a:srgbClr val="1F2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kill criteria published up front: fewer than 3 paid discoveries or zero pilot conversions by end of Q2 means we fix the incentive design — not quietly abandon the motion. The transition cost (“the fish”) is budgeted explicitly in Phase 0.</a:t>
            </a:r>
            <a:endParaRPr lang="en-US" sz="950"/>
          </a:p>
        </p:txBody>
      </p:sp>
      <p:sp>
        <p:nvSpPr>
          <p:cNvPr id="22" name="Text 19"/>
          <p:cNvSpPr/>
          <p:nvPr/>
        </p:nvSpPr>
        <p:spPr>
          <a:xfrm>
            <a:off x="457200" y="4832604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JourneyTeam · Customer Impact 2027 — Internal</a:t>
            </a:r>
            <a:endParaRPr lang="en-US" sz="800"/>
          </a:p>
        </p:txBody>
      </p:sp>
      <p:sp>
        <p:nvSpPr>
          <p:cNvPr id="23" name="Text 20"/>
          <p:cNvSpPr/>
          <p:nvPr/>
        </p:nvSpPr>
        <p:spPr>
          <a:xfrm>
            <a:off x="8321040" y="483260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5D6B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33F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7373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/>
          </a:p>
        </p:txBody>
      </p:sp>
      <p:sp>
        <p:nvSpPr>
          <p:cNvPr id="3" name="Text 1"/>
          <p:cNvSpPr/>
          <p:nvPr/>
        </p:nvSpPr>
        <p:spPr>
          <a:xfrm>
            <a:off x="640080" y="26060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C9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 Zhdanov  |  Practice Director, Data &amp; AI — JourneyTEAM</a:t>
            </a:r>
            <a:endParaRPr lang="en-US" sz="1400"/>
          </a:p>
        </p:txBody>
      </p:sp>
      <p:sp>
        <p:nvSpPr>
          <p:cNvPr id="4" name="Text 2"/>
          <p:cNvSpPr/>
          <p:nvPr/>
        </p:nvSpPr>
        <p:spPr>
          <a:xfrm>
            <a:off x="640080" y="29260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FA3B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Igor.Zhdanov@journeyteam.com  ·  Repo: JT-izhdanov/Customer-Impact-Delivery  ·  www.JourneyTeam.com</a:t>
            </a:r>
            <a:endParaRPr lang="en-US" sz="1200"/>
          </a:p>
        </p:txBody>
      </p:sp>
      <p:sp>
        <p:nvSpPr>
          <p:cNvPr id="5" name="Shape 3"/>
          <p:cNvSpPr/>
          <p:nvPr/>
        </p:nvSpPr>
        <p:spPr>
          <a:xfrm>
            <a:off x="7772400" y="4023360"/>
            <a:ext cx="237744" cy="237744"/>
          </a:xfrm>
          <a:prstGeom prst="ellipse">
            <a:avLst/>
          </a:prstGeom>
          <a:solidFill>
            <a:srgbClr val="B5773A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0" y="4023360"/>
            <a:ext cx="237744" cy="237744"/>
          </a:xfrm>
          <a:prstGeom prst="ellipse">
            <a:avLst/>
          </a:prstGeom>
          <a:solidFill>
            <a:srgbClr val="8A94A6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0" y="4023360"/>
            <a:ext cx="237744" cy="237744"/>
          </a:xfrm>
          <a:prstGeom prst="ellipse">
            <a:avLst/>
          </a:prstGeom>
          <a:solidFill>
            <a:srgbClr val="C9A2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18cf551-db9a-4baa-993d-5f0a05eecdef" xsi:nil="true"/>
    <TaxCatchAll xmlns="b0471ce7-73fd-4c4f-bc2e-ace09b03f6e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86DC15E7ACD574BAF1EEEADBF5A2C32" ma:contentTypeVersion="11" ma:contentTypeDescription="Create a new document." ma:contentTypeScope="" ma:versionID="4bcc20440946996736648522f2d41643">
  <xsd:schema xmlns:xsd="http://www.w3.org/2001/XMLSchema" xmlns:xs="http://www.w3.org/2001/XMLSchema" xmlns:p="http://schemas.microsoft.com/office/2006/metadata/properties" xmlns:ns2="718cf551-db9a-4baa-993d-5f0a05eecdef" xmlns:ns3="b0471ce7-73fd-4c4f-bc2e-ace09b03f6e1" targetNamespace="http://schemas.microsoft.com/office/2006/metadata/properties" ma:root="true" ma:fieldsID="4a46f00637a73fcd43b2f80db7cb3776" ns2:_="" ns3:_="">
    <xsd:import namespace="718cf551-db9a-4baa-993d-5f0a05eecdef"/>
    <xsd:import namespace="b0471ce7-73fd-4c4f-bc2e-ace09b03f6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8cf551-db9a-4baa-993d-5f0a05eecde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displayName="Image Tags_0" ma:hidden="true" ma:internalName="lcf76f155ced4ddcb4097134ff3c332f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471ce7-73fd-4c4f-bc2e-ace09b03f6e1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96f5c0bb-c29f-4bf8-bfa4-1a2b6b1f6d15}" ma:internalName="TaxCatchAll" ma:showField="CatchAllData" ma:web="b0471ce7-73fd-4c4f-bc2e-ace09b03f6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F9D8D3B-29D7-40D6-AAE0-692097B4D519}">
  <ds:schemaRefs>
    <ds:schemaRef ds:uri="718cf551-db9a-4baa-993d-5f0a05eecdef"/>
    <ds:schemaRef ds:uri="b0471ce7-73fd-4c4f-bc2e-ace09b03f6e1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38B1124-4AB8-42E2-A08E-E3677951608F}">
  <ds:schemaRefs>
    <ds:schemaRef ds:uri="718cf551-db9a-4baa-993d-5f0a05eecdef"/>
    <ds:schemaRef ds:uri="b0471ce7-73fd-4c4f-bc2e-ace09b03f6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186AF00-DB7A-41DE-BB3E-1D2EE8A1918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15</Slides>
  <Notes>15</Notes>
  <HiddenSlides>1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Impact — the 2027 Plan (Internal)</dc:title>
  <dc:subject>PptxGenJS Presentation</dc:subject>
  <dc:creator>JourneyTEAM</dc:creator>
  <cp:revision>2</cp:revision>
  <dcterms:created xsi:type="dcterms:W3CDTF">2026-07-08T16:07:57Z</dcterms:created>
  <dcterms:modified xsi:type="dcterms:W3CDTF">2026-07-15T20:10:09Z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0x010100586DC15E7ACD574BAF1EEEADBF5A2C32</vt:lpwstr>
  </property>
</Properties>
</file>